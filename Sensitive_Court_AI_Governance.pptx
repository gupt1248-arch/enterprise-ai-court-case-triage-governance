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volume by category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Criminal</c:v>
                  </c:pt>
                  <c:pt idx="1">
                    <c:v>Civil</c:v>
                  </c:pt>
                  <c:pt idx="2">
                    <c:v>Domestic/Family</c:v>
                  </c:pt>
                  <c:pt idx="3">
                    <c:v>Administrative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2422</c:v>
                </c:pt>
                <c:pt idx="1">
                  <c:v>2391</c:v>
                </c:pt>
                <c:pt idx="2">
                  <c:v>2267</c:v>
                </c:pt>
                <c:pt idx="3">
                  <c:v>920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risk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20D18"/>
              </a:solidFill>
              <a:effectLst/>
            </c:spPr>
          </c:dPt>
          <c:dPt>
            <c:idx val="1"/>
            <c:bubble3D val="0"/>
            <c:spPr>
              <a:solidFill>
                <a:srgbClr val="B98C43"/>
              </a:solidFill>
              <a:effectLst/>
            </c:spPr>
          </c:dPt>
          <c:dPt>
            <c:idx val="2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bubble3D val="0"/>
            <c:spPr>
              <a:solidFill>
                <a:srgbClr val="2F6F4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Moderate</c:v>
                </c:pt>
                <c:pt idx="3">
                  <c:v>Controlled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209</c:v>
                </c:pt>
                <c:pt idx="1">
                  <c:v>2359</c:v>
                </c:pt>
                <c:pt idx="2">
                  <c:v>4433</c:v>
                </c:pt>
                <c:pt idx="3">
                  <c:v>999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risk score by criterion</c:v>
                </c:pt>
              </c:strCache>
            </c:strRef>
          </c:tx>
          <c:spPr>
            <a:solidFill>
              <a:srgbClr val="B20D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Privacy</c:v>
                  </c:pt>
                  <c:pt idx="1">
                    <c:v>Security</c:v>
                  </c:pt>
                  <c:pt idx="2">
                    <c:v>Public Safety</c:v>
                  </c:pt>
                  <c:pt idx="3">
                    <c:v>Combined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60.3</c:v>
                </c:pt>
                <c:pt idx="1">
                  <c:v>63.5</c:v>
                </c:pt>
                <c:pt idx="2">
                  <c:v>68.7</c:v>
                </c:pt>
                <c:pt idx="3">
                  <c:v>63.8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 by processing zone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Secure sampled</c:v>
                  </c:pt>
                  <c:pt idx="1">
                    <c:v>Restricted gated</c:v>
                  </c:pt>
                  <c:pt idx="2">
                    <c:v>Secure base</c:v>
                  </c:pt>
                  <c:pt idx="3">
                    <c:v>Restricted / no ext.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4433</c:v>
                </c:pt>
                <c:pt idx="1">
                  <c:v>2359</c:v>
                </c:pt>
                <c:pt idx="2">
                  <c:v>999</c:v>
                </c:pt>
                <c:pt idx="3">
                  <c:v>209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Public-safety risk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20D18"/>
              </a:solidFill>
              <a:effectLst/>
            </c:spPr>
          </c:dPt>
          <c:dPt>
            <c:idx val="1"/>
            <c:bubble3D val="0"/>
            <c:spPr>
              <a:solidFill>
                <a:srgbClr val="B98C43"/>
              </a:solidFill>
              <a:effectLst/>
            </c:spPr>
          </c:dPt>
          <c:dPt>
            <c:idx val="2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bubble3D val="0"/>
            <c:spPr>
              <a:solidFill>
                <a:srgbClr val="2F6F4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Moderate</c:v>
                </c:pt>
                <c:pt idx="3">
                  <c:v>Controlled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2296</c:v>
                </c:pt>
                <c:pt idx="1">
                  <c:v>1931</c:v>
                </c:pt>
                <c:pt idx="2">
                  <c:v>1902</c:v>
                </c:pt>
                <c:pt idx="3">
                  <c:v>1871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Reviewer priority distribution</c:v>
                </c:pt>
              </c:strCache>
            </c:strRef>
          </c:tx>
          <c:spPr>
            <a:solidFill>
              <a:srgbClr val="B20D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 Safety</c:v>
                  </c:pt>
                  <c:pt idx="1">
                    <c:v>P1 Immediate</c:v>
                  </c:pt>
                  <c:pt idx="2">
                    <c:v>P2 Review</c:v>
                  </c:pt>
                  <c:pt idx="3">
                    <c:v>P3 Standard</c:v>
                  </c:pt>
                  <c:pt idx="4">
                    <c:v>P4 Sampling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2134</c:v>
                </c:pt>
                <c:pt idx="1">
                  <c:v>209</c:v>
                </c:pt>
                <c:pt idx="2">
                  <c:v>999</c:v>
                </c:pt>
                <c:pt idx="3">
                  <c:v>3659</c:v>
                </c:pt>
                <c:pt idx="4">
                  <c:v>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Guardrail action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20D18"/>
              </a:solidFill>
              <a:effectLst/>
            </c:spPr>
          </c:dPt>
          <c:dPt>
            <c:idx val="1"/>
            <c:bubble3D val="0"/>
            <c:spPr>
              <a:solidFill>
                <a:srgbClr val="B98C4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Mandatory Human Review</c:v>
                </c:pt>
                <c:pt idx="1">
                  <c:v>AI-Assisted Routing Candidate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7278</c:v>
                </c:pt>
                <c:pt idx="1">
                  <c:v>722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 / No-Go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20D18"/>
              </a:solidFill>
              <a:effectLst/>
            </c:spPr>
          </c:dPt>
          <c:dPt>
            <c:idx val="1"/>
            <c:bubble3D val="0"/>
            <c:spPr>
              <a:solidFill>
                <a:srgbClr val="B98C4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Go with guardrails</c:v>
                </c:pt>
                <c:pt idx="1">
                  <c:v>No-Go until reviewer approval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5259</c:v>
                </c:pt>
                <c:pt idx="1">
                  <c:v>2741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400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98C43"/>
                </a:solidFill>
              </a:rPr>
              <a:t>ALVAREZ &amp; MARSAL | PRODUCT ANALYST, AI TOOLS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Sensitive Court Data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Governance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FEAE4"/>
                </a:solidFill>
              </a:rPr>
              <a:t>Stakeholder-ready project package for evaluating AI-assisted legal intake with privacy, security, public-safety, auditability, and human-review guardrails.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731520" y="4681728"/>
            <a:ext cx="21031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9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98C43"/>
                </a:solidFill>
              </a:rPr>
              <a:t>8,000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22960" y="51389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governed release rows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063240" y="4681728"/>
            <a:ext cx="21031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4809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98C43"/>
                </a:solidFill>
              </a:rPr>
              <a:t>92.6%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3154680" y="51389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mandatory human review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5394960" y="4681728"/>
            <a:ext cx="21031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4809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98C43"/>
                </a:solidFill>
              </a:rPr>
              <a:t>0%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5486400" y="51389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external AI use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726680" y="4681728"/>
            <a:ext cx="21031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809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98C43"/>
                </a:solidFill>
              </a:rPr>
              <a:t>0%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7818120" y="51389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automated decisions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731520" y="60533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Prepared by Ayush Gupta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60533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B9B0A8"/>
                </a:solidFill>
              </a:rPr>
              <a:t>Synthetic repository data; production design assumes highly sensitive real court data.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EXECUTIVE ANSWER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Recommendation: controlled pilot, not full automation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3703320" cy="1234440"/>
          </a:xfrm>
          <a:prstGeom prst="rect">
            <a:avLst/>
          </a:prstGeom>
          <a:solidFill>
            <a:srgbClr val="F8E9EA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54480"/>
            <a:ext cx="64008" cy="123444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916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Decision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22960" y="1975104"/>
            <a:ext cx="3410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Proceed with a limited pilot only after privacy, security, and public-safety gates pass. AI output remains a routing recommendation, not a legal or operational decision.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526280" y="1554480"/>
            <a:ext cx="3703320" cy="1234440"/>
          </a:xfrm>
          <a:prstGeom prst="rect">
            <a:avLst/>
          </a:prstGeom>
          <a:solidFill>
            <a:srgbClr val="F7F4F0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554480"/>
            <a:ext cx="64008" cy="1234440"/>
          </a:xfrm>
          <a:prstGeom prst="rect">
            <a:avLst/>
          </a:prstGeom>
          <a:solidFill>
            <a:srgbClr val="B98C43"/>
          </a:solidFill>
          <a:ln w="12700">
            <a:solidFill>
              <a:srgbClr val="B98C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916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Model posture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709160" y="1975104"/>
            <a:ext cx="3410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Use transparent TF-IDF routing for the controlled pilot. Keep advanced semantic/BERT-style models in shadow mode until governance evidence proves incremental value.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412480" y="1554480"/>
            <a:ext cx="3246120" cy="1234440"/>
          </a:xfrm>
          <a:prstGeom prst="rect">
            <a:avLst/>
          </a:prstGeom>
          <a:solidFill>
            <a:srgbClr val="EAF0F6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554480"/>
            <a:ext cx="64008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691640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Control posture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595360" y="1975104"/>
            <a:ext cx="2953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No raw filings in analytics outputs, no external AI calls, no autonomous public-safety action, and immutable audit trail for every AI-assisted action.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11018520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112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Stakeholder message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6791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2222"/>
                </a:solidFill>
              </a:rPr>
              <a:t>This project is designed to show how an AI tools product analyst governs adoption: define approved use cases, control data movement, test model fit, sequence rollout, support users, and keep a traceable operating model before scale.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777240" y="5440680"/>
            <a:ext cx="24231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568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8,000+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868680" y="589788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records treated as restricted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3474720" y="5440680"/>
            <a:ext cx="24231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5568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Yes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3566160" y="589788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go/no-go approvals required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6172200" y="5440680"/>
            <a:ext cx="24231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5568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Blocked</a:t>
            </a:r>
            <a:endParaRPr lang="en-US" sz="1820" dirty="0"/>
          </a:p>
        </p:txBody>
      </p:sp>
      <p:sp>
        <p:nvSpPr>
          <p:cNvPr id="31" name="Text 29"/>
          <p:cNvSpPr/>
          <p:nvPr/>
        </p:nvSpPr>
        <p:spPr>
          <a:xfrm>
            <a:off x="6263640" y="589788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raw-text model input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869680" y="5440680"/>
            <a:ext cx="24231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0" y="5568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Final</a:t>
            </a:r>
            <a:endParaRPr lang="en-US" sz="1820" dirty="0"/>
          </a:p>
        </p:txBody>
      </p:sp>
      <p:sp>
        <p:nvSpPr>
          <p:cNvPr id="34" name="Text 32"/>
          <p:cNvSpPr/>
          <p:nvPr/>
        </p:nvSpPr>
        <p:spPr>
          <a:xfrm>
            <a:off x="8961120" y="589788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reviewer authority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37" name="Text 35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02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DATA FILE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Governed release dataset is built for stakeholder review and GitHub safety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The new data file is a redacted governed release file. It intentionally excludes raw sensitive narratives and direct case identifiers while preserving the fields needed to evaluate privacy, security, public-safety, model routing, and reviewer controls.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</a:rPr>
              <a:t>Case volume by category</a:t>
            </a:r>
            <a:endParaRPr lang="en-US" sz="11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85800" y="2532888"/>
          <a:ext cx="4937760" cy="2450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355080" y="2240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</a:rPr>
              <a:t>Combined risk tier</a:t>
            </a:r>
            <a:endParaRPr lang="en-US" sz="112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355080" y="2514600"/>
          <a:ext cx="4572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731520" y="5303520"/>
            <a:ext cx="10652760" cy="658368"/>
          </a:xfrm>
          <a:prstGeom prst="rect">
            <a:avLst/>
          </a:prstGeom>
          <a:solidFill>
            <a:srgbClr val="F7F4F0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5303520"/>
            <a:ext cx="64008" cy="658368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5440680"/>
            <a:ext cx="10360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Release-file principle</a:t>
            </a:r>
            <a:endParaRPr lang="en-US" sz="1020" dirty="0"/>
          </a:p>
        </p:txBody>
      </p:sp>
      <p:sp>
        <p:nvSpPr>
          <p:cNvPr id="16" name="Text 12"/>
          <p:cNvSpPr/>
          <p:nvPr/>
        </p:nvSpPr>
        <p:spPr>
          <a:xfrm>
            <a:off x="914400" y="5724144"/>
            <a:ext cx="1036015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Give stakeholders enough evidence to evaluate the solution while keeping raw identifiers and raw narratives outside the analytics artifact.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19" name="Text 15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03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RISK CRITERIA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Every record is evaluated across privacy, security, and public-safety criteria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</a:rPr>
              <a:t>Average risk score by criterion</a:t>
            </a:r>
            <a:endParaRPr lang="en-US" sz="11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755648"/>
          <a:ext cx="5212080" cy="2999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355080" y="1572768"/>
            <a:ext cx="5074920" cy="822960"/>
          </a:xfrm>
          <a:prstGeom prst="rect">
            <a:avLst/>
          </a:prstGeom>
          <a:solidFill>
            <a:srgbClr val="F8E9EA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1572768"/>
            <a:ext cx="64008" cy="82296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709928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Privacy criterion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6537960" y="1993392"/>
            <a:ext cx="47823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Redacted + pseudonymized inputs only; raw identifiers separated from analytics release.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6355080" y="2651760"/>
            <a:ext cx="5074920" cy="822960"/>
          </a:xfrm>
          <a:prstGeom prst="rect">
            <a:avLst/>
          </a:prstGeom>
          <a:solidFill>
            <a:srgbClr val="F7F4F0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55080" y="2651760"/>
            <a:ext cx="64008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278892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Security criterion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537960" y="3072384"/>
            <a:ext cx="47823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Restricted enclave processing, RBAC, encryption, immutable audit trail and no external AI calls.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6355080" y="3730752"/>
            <a:ext cx="5074920" cy="822960"/>
          </a:xfrm>
          <a:prstGeom prst="rect">
            <a:avLst/>
          </a:prstGeom>
          <a:solidFill>
            <a:srgbClr val="EAF0F6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3730752"/>
            <a:ext cx="64008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3867912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Public-safety criterion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6537960" y="4151376"/>
            <a:ext cx="47823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Protection-order, violence, sealed-record and high-urgency cases receive mandatory human review.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85800" y="5230368"/>
            <a:ext cx="1074420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431536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Non-negotiable: higher model confidence never bypasses privacy, security, or public-safety escalation rules.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04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CONTROL ARCHITECTURE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Defense-in-depth workflow before any AI recommendation reaches a reviewer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411480" cy="411480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013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1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1042416" y="1865376"/>
            <a:ext cx="941832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" y="2331720"/>
            <a:ext cx="1371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31720"/>
            <a:ext cx="64008" cy="713232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688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Secure intake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2752344"/>
            <a:ext cx="1078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Raw filings quarantined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212848" y="1664208"/>
            <a:ext cx="411480" cy="411480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8013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2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2688336" y="1865376"/>
            <a:ext cx="941832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011680" y="2331720"/>
            <a:ext cx="1371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2331720"/>
            <a:ext cx="64008" cy="713232"/>
          </a:xfrm>
          <a:prstGeom prst="rect">
            <a:avLst/>
          </a:prstGeom>
          <a:solidFill>
            <a:srgbClr val="B98C43"/>
          </a:solidFill>
          <a:ln w="12700">
            <a:solidFill>
              <a:srgbClr val="B98C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4688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Detect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194560" y="2752344"/>
            <a:ext cx="1078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PII + safety indicators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858768" y="1664208"/>
            <a:ext cx="411480" cy="411480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18013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3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4334256" y="1865376"/>
            <a:ext cx="941832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0" y="2331720"/>
            <a:ext cx="1371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2331720"/>
            <a:ext cx="64008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4688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Redact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840480" y="2752344"/>
            <a:ext cx="1078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Direct identifiers removed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504688" y="1664208"/>
            <a:ext cx="411480" cy="411480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18013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4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5980176" y="1865376"/>
            <a:ext cx="941832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03520" y="2331720"/>
            <a:ext cx="1371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0" y="2331720"/>
            <a:ext cx="64008" cy="713232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4688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Infer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486400" y="2752344"/>
            <a:ext cx="1078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AI routing recommendation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7150608" y="1664208"/>
            <a:ext cx="411480" cy="411480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96912" y="18013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5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7626096" y="1865376"/>
            <a:ext cx="941832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49440" y="2331720"/>
            <a:ext cx="1371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2331720"/>
            <a:ext cx="64008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24688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Gate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7132320" y="2752344"/>
            <a:ext cx="1078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Confidence + policy checks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8796528" y="1664208"/>
            <a:ext cx="411480" cy="411480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42832" y="18013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6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9272016" y="1865376"/>
            <a:ext cx="941832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595360" y="2331720"/>
            <a:ext cx="1371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95360" y="2331720"/>
            <a:ext cx="64008" cy="713232"/>
          </a:xfrm>
          <a:prstGeom prst="rect">
            <a:avLst/>
          </a:prstGeom>
          <a:solidFill>
            <a:srgbClr val="820B12"/>
          </a:solidFill>
          <a:ln w="12700">
            <a:solidFill>
              <a:srgbClr val="820B1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0" y="24688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Review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8778240" y="2752344"/>
            <a:ext cx="1078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Human final authority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10442448" y="1664208"/>
            <a:ext cx="411480" cy="411480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88752" y="18013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7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10241280" y="2331720"/>
            <a:ext cx="1371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41280" y="2331720"/>
            <a:ext cx="64008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24160" y="24688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Audit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10424160" y="2752344"/>
            <a:ext cx="1078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Immutable event trail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777240" y="3977640"/>
            <a:ext cx="5074920" cy="1078992"/>
          </a:xfrm>
          <a:prstGeom prst="rect">
            <a:avLst/>
          </a:prstGeom>
          <a:solidFill>
            <a:srgbClr val="F8E9EA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240" y="3977640"/>
            <a:ext cx="64008" cy="1078992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0120" y="411480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Mandatory escalation</a:t>
            </a:r>
            <a:endParaRPr lang="en-US" sz="1020" dirty="0"/>
          </a:p>
        </p:txBody>
      </p:sp>
      <p:sp>
        <p:nvSpPr>
          <p:cNvPr id="59" name="Text 57"/>
          <p:cNvSpPr/>
          <p:nvPr/>
        </p:nvSpPr>
        <p:spPr>
          <a:xfrm>
            <a:off x="960120" y="4398264"/>
            <a:ext cx="47823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Restricted-Court Data, public-safety signals, sealed/protected records, low confidence, non-verified labels, or conflicting intake evidence force human review.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6263640" y="3977640"/>
            <a:ext cx="5074920" cy="1078992"/>
          </a:xfrm>
          <a:prstGeom prst="rect">
            <a:avLst/>
          </a:prstGeom>
          <a:solidFill>
            <a:srgbClr val="EDF5E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63640" y="3977640"/>
            <a:ext cx="64008" cy="1078992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46520" y="411480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Approved operating model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6446520" y="4398264"/>
            <a:ext cx="47823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AI routes, prioritizes, summarizes risk signals, and creates reviewer evidence. It does not provide legal advice, determine outcomes, or replace reviewer judgment.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05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PRIVACY DESIGN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Raw sensitive information is separated from analytics and modeling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44752"/>
            <a:ext cx="3337560" cy="1005840"/>
          </a:xfrm>
          <a:prstGeom prst="rect">
            <a:avLst/>
          </a:prstGeom>
          <a:solidFill>
            <a:srgbClr val="F8E9EA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44752"/>
            <a:ext cx="64008" cy="100584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81912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Raw zone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68680" y="1865376"/>
            <a:ext cx="30449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Original sensitive filings remain in a restricted source-of-record. They are not used directly for analytics dashboards or model artifacts.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434840" y="1444752"/>
            <a:ext cx="3337560" cy="1005840"/>
          </a:xfrm>
          <a:prstGeom prst="rect">
            <a:avLst/>
          </a:prstGeom>
          <a:solidFill>
            <a:srgbClr val="F7F4F0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44752"/>
            <a:ext cx="64008" cy="1005840"/>
          </a:xfrm>
          <a:prstGeom prst="rect">
            <a:avLst/>
          </a:prstGeom>
          <a:solidFill>
            <a:srgbClr val="B98C43"/>
          </a:solidFill>
          <a:ln w="12700">
            <a:solidFill>
              <a:srgbClr val="B98C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581912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Redaction layer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617720" y="1865376"/>
            <a:ext cx="30449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Names, DOBs, phones, emails, SSNs, addresses, and context identifiers are replaced with standardized redaction tokens.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183880" y="1444752"/>
            <a:ext cx="3337560" cy="1005840"/>
          </a:xfrm>
          <a:prstGeom prst="rect">
            <a:avLst/>
          </a:prstGeom>
          <a:solidFill>
            <a:srgbClr val="EDF5E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444752"/>
            <a:ext cx="64008" cy="100584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581912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Release layer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366760" y="1865376"/>
            <a:ext cx="30449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The shared dataset uses hashed case keys, redacted narratives, PII flags, risk scores, and governance actions only.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85800" y="2926080"/>
            <a:ext cx="10835640" cy="1828800"/>
          </a:xfrm>
          <a:prstGeom prst="rect">
            <a:avLst/>
          </a:prstGeom>
          <a:solidFill>
            <a:srgbClr val="F7F4F0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2004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Example redaction contract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359359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</a:rPr>
              <a:t>Before: Petitioner Jordan Martin listed DOB 04/12/1982, phone (317) 555-0198, and address 742 Main St.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60120" y="39959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</a:rPr>
              <a:t>After: [REDACTED_PERSON] listed DOB [REDACTED_DOB], phone [REDACTED_PHONE], and address [REDACTED_ADDRESS].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14400" y="5230368"/>
            <a:ext cx="21945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358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Separate</a:t>
            </a:r>
            <a:endParaRPr lang="en-US" sz="1820" dirty="0"/>
          </a:p>
        </p:txBody>
      </p:sp>
      <p:sp>
        <p:nvSpPr>
          <p:cNvPr id="26" name="Text 24"/>
          <p:cNvSpPr/>
          <p:nvPr/>
        </p:nvSpPr>
        <p:spPr>
          <a:xfrm>
            <a:off x="1005840" y="56875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raw identifier storage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3337560" y="5230368"/>
            <a:ext cx="21945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5358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F6F4E"/>
                </a:solidFill>
              </a:rPr>
              <a:t>Redacted</a:t>
            </a:r>
            <a:endParaRPr lang="en-US" sz="1820" dirty="0"/>
          </a:p>
        </p:txBody>
      </p:sp>
      <p:sp>
        <p:nvSpPr>
          <p:cNvPr id="29" name="Text 27"/>
          <p:cNvSpPr/>
          <p:nvPr/>
        </p:nvSpPr>
        <p:spPr>
          <a:xfrm>
            <a:off x="3429000" y="56875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dashboard data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5760720" y="5230368"/>
            <a:ext cx="21945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5358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Blocked</a:t>
            </a:r>
            <a:endParaRPr lang="en-US" sz="1820" dirty="0"/>
          </a:p>
        </p:txBody>
      </p:sp>
      <p:sp>
        <p:nvSpPr>
          <p:cNvPr id="32" name="Text 30"/>
          <p:cNvSpPr/>
          <p:nvPr/>
        </p:nvSpPr>
        <p:spPr>
          <a:xfrm>
            <a:off x="5852160" y="56875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external LLM calls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183880" y="5230368"/>
            <a:ext cx="21945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5358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No</a:t>
            </a:r>
            <a:endParaRPr lang="en-US" sz="1820" dirty="0"/>
          </a:p>
        </p:txBody>
      </p:sp>
      <p:sp>
        <p:nvSpPr>
          <p:cNvPr id="35" name="Text 33"/>
          <p:cNvSpPr/>
          <p:nvPr/>
        </p:nvSpPr>
        <p:spPr>
          <a:xfrm>
            <a:off x="8275320" y="56875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public release allowed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38" name="Text 36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06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SECURITY DESIGN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Enterprise controls required before production deployment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</a:rPr>
              <a:t>Records by processing zone</a:t>
            </a:r>
            <a:endParaRPr lang="en-US" sz="11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755648"/>
          <a:ext cx="5394960" cy="29535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46520" y="1463040"/>
            <a:ext cx="4892040" cy="868680"/>
          </a:xfrm>
          <a:prstGeom prst="rect">
            <a:avLst/>
          </a:prstGeom>
          <a:solidFill>
            <a:srgbClr val="F7F4F0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463040"/>
            <a:ext cx="64008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1600200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Access control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6629400" y="1883664"/>
            <a:ext cx="459943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SSO/MFA, RBAC by role, least privilege, access recertification, and separation of source-of-record from analytics artifacts.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6446520" y="2578608"/>
            <a:ext cx="4892040" cy="868680"/>
          </a:xfrm>
          <a:prstGeom prst="rect">
            <a:avLst/>
          </a:prstGeom>
          <a:solidFill>
            <a:srgbClr val="F8E9EA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2578608"/>
            <a:ext cx="64008" cy="86868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2715768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Data protection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629400" y="2999232"/>
            <a:ext cx="459943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Encryption in transit and at rest, managed key rotation, approved connector allowlist, and DLP controls for raw and redacted stores.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6446520" y="3694176"/>
            <a:ext cx="4892040" cy="868680"/>
          </a:xfrm>
          <a:prstGeom prst="rect">
            <a:avLst/>
          </a:prstGeom>
          <a:solidFill>
            <a:srgbClr val="EAF0F6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3694176"/>
            <a:ext cx="64008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3831336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Evidence and audit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6629400" y="4114800"/>
            <a:ext cx="459943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Every recommendation records model version, confidence, input hash, guardrail action, reviewer decision, override reason, and timestamp.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1005840" y="5349240"/>
            <a:ext cx="23774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97280" y="5477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No</a:t>
            </a:r>
            <a:endParaRPr lang="en-US" sz="1820" dirty="0"/>
          </a:p>
        </p:txBody>
      </p:sp>
      <p:sp>
        <p:nvSpPr>
          <p:cNvPr id="24" name="Text 21"/>
          <p:cNvSpPr/>
          <p:nvPr/>
        </p:nvSpPr>
        <p:spPr>
          <a:xfrm>
            <a:off x="1097280" y="58064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automated decisions allowed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657600" y="5349240"/>
            <a:ext cx="237744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49040" y="5477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20D18"/>
                </a:solidFill>
              </a:rPr>
              <a:t>Yes</a:t>
            </a:r>
            <a:endParaRPr lang="en-US" sz="1820" dirty="0"/>
          </a:p>
        </p:txBody>
      </p:sp>
      <p:sp>
        <p:nvSpPr>
          <p:cNvPr id="27" name="Text 24"/>
          <p:cNvSpPr/>
          <p:nvPr/>
        </p:nvSpPr>
        <p:spPr>
          <a:xfrm>
            <a:off x="3749040" y="58064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audit event required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30" name="Text 27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07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PUBLIC-SAFETY CONTROLS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Risk signals override model confidence and force human review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44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</a:rPr>
              <a:t>Public-safety risk tier</a:t>
            </a:r>
            <a:endParaRPr lang="en-US" sz="11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68680" y="1719072"/>
          <a:ext cx="47548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355080" y="14447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</a:rPr>
              <a:t>Reviewer priority distribution</a:t>
            </a:r>
            <a:endParaRPr lang="en-US" sz="112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55080" y="1737360"/>
          <a:ext cx="4937760" cy="2862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77240" y="5074920"/>
            <a:ext cx="10652760" cy="713232"/>
          </a:xfrm>
          <a:prstGeom prst="rect">
            <a:avLst/>
          </a:prstGeom>
          <a:solidFill>
            <a:srgbClr val="F8E9EA"/>
          </a:solidFill>
          <a:ln w="8890">
            <a:solidFill>
              <a:srgbClr val="EACFD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5840" y="5303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20D18"/>
                </a:solidFill>
              </a:rPr>
              <a:t>Public-safety rule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880360" y="5303520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22222"/>
                </a:solidFill>
              </a:rPr>
              <a:t>Protection order, violence, credible threat, emergency hearing, victim statement, protected address, minor/guardian, or sealed-record signals cannot be routed without human confirmation.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17" name="Text 13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08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MODEL GOVERNANCE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Model selection is based on governability, not just accuracy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44752"/>
            <a:ext cx="3429000" cy="1188720"/>
          </a:xfrm>
          <a:prstGeom prst="rect">
            <a:avLst/>
          </a:prstGeom>
          <a:solidFill>
            <a:srgbClr val="EDF5E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44752"/>
            <a:ext cx="64008" cy="11887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81912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Controlled pilot model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68680" y="1865376"/>
            <a:ext cx="313639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TF-IDF + Logistic Regression is transparent, monitorable, fast, and appropriate for routing support once redacted inputs and reviewer gates are enforced.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389120" y="1444752"/>
            <a:ext cx="3429000" cy="1188720"/>
          </a:xfrm>
          <a:prstGeom prst="rect">
            <a:avLst/>
          </a:prstGeom>
          <a:solidFill>
            <a:srgbClr val="F7F4F0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444752"/>
            <a:ext cx="64008" cy="1188720"/>
          </a:xfrm>
          <a:prstGeom prst="rect">
            <a:avLst/>
          </a:prstGeom>
          <a:solidFill>
            <a:srgbClr val="B98C43"/>
          </a:solidFill>
          <a:ln w="12700">
            <a:solidFill>
              <a:srgbClr val="B98C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581912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Shadow evaluation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572000" y="1865376"/>
            <a:ext cx="313639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BERT-style semantic models are evaluated in parallel without changing production routing until privacy, security, safety, and performance gates pass.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092440" y="1444752"/>
            <a:ext cx="3429000" cy="1188720"/>
          </a:xfrm>
          <a:prstGeom prst="rect">
            <a:avLst/>
          </a:prstGeom>
          <a:solidFill>
            <a:srgbClr val="F8E9EA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444752"/>
            <a:ext cx="64008" cy="118872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581912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Human authority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275320" y="1865376"/>
            <a:ext cx="313639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Reviewer decision overrides become training signals, product feedback, and audit evidence. Model confidence never becomes final authority.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</a:rPr>
              <a:t>Guardrail action</a:t>
            </a:r>
            <a:endParaRPr lang="en-US" sz="112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914400" y="3337560"/>
          <a:ext cx="38404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629400" y="3063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</a:rPr>
              <a:t>Go / No-Go status</a:t>
            </a:r>
            <a:endParaRPr lang="en-US" sz="112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629400" y="3337560"/>
          <a:ext cx="38404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26" name="Text 22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09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661"/>
                </a:solidFill>
              </a:rPr>
              <a:t>ALVAREZ &amp; MARSAL  |  AI TOOLS GOVERNANCE SHOWCASE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84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ROLLOUT PLAN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11111"/>
                </a:solidFill>
              </a:rPr>
              <a:t>Governed path from POC to limited pilot to controlled scale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0160">
            <a:solidFill>
              <a:srgbClr val="D8D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47088"/>
            <a:ext cx="475488" cy="475488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00253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44168" y="2084832"/>
            <a:ext cx="1371600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6072" y="2651760"/>
            <a:ext cx="1847088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2651760"/>
            <a:ext cx="64008" cy="86868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POC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58952" y="3072384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Synthetic + redacted sample validation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017520" y="1847088"/>
            <a:ext cx="475488" cy="475488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200253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84448" y="2084832"/>
            <a:ext cx="1371600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16352" y="2651760"/>
            <a:ext cx="1847088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16352" y="2651760"/>
            <a:ext cx="64008" cy="868680"/>
          </a:xfrm>
          <a:prstGeom prst="rect">
            <a:avLst/>
          </a:prstGeom>
          <a:solidFill>
            <a:srgbClr val="B98C43"/>
          </a:solidFill>
          <a:ln w="12700">
            <a:solidFill>
              <a:srgbClr val="B98C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Shadow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999232" y="3072384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Run model without operational impact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257800" y="1847088"/>
            <a:ext cx="475488" cy="475488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200253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24728" y="2084832"/>
            <a:ext cx="1371600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56632" y="2651760"/>
            <a:ext cx="1847088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56632" y="2651760"/>
            <a:ext cx="64008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9512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Pilot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239512" y="3072384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Limited queues + mandatory review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498080" y="1847088"/>
            <a:ext cx="475488" cy="475488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200253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65008" y="2084832"/>
            <a:ext cx="1371600" cy="0"/>
          </a:xfrm>
          <a:prstGeom prst="line">
            <a:avLst/>
          </a:prstGeom>
          <a:noFill/>
          <a:ln w="13970">
            <a:solidFill>
              <a:srgbClr val="9A918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296912" y="2651760"/>
            <a:ext cx="1847088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2651760"/>
            <a:ext cx="64008" cy="86868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Scale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7479792" y="3072384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Expand after governance approval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9738360" y="1847088"/>
            <a:ext cx="475488" cy="475488"/>
          </a:xfrm>
          <a:prstGeom prst="ellipse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02952" y="200253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537192" y="2651760"/>
            <a:ext cx="1847088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37192" y="2651760"/>
            <a:ext cx="64008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0072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Operate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9720072" y="3072384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Monitor, audit, retrain, support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777240" y="4526280"/>
            <a:ext cx="10561320" cy="987552"/>
          </a:xfrm>
          <a:prstGeom prst="rect">
            <a:avLst/>
          </a:prstGeom>
          <a:solidFill>
            <a:srgbClr val="F7F4F0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" y="4791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B20D18"/>
                </a:solidFill>
              </a:rPr>
              <a:t>Go/No-Go gates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2926080" y="47914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22222"/>
                </a:solidFill>
              </a:rPr>
              <a:t>PII redaction validation • public-safety escalation test • model threshold pass • RBAC/access evidence • audit logging • reviewer training • product owner approval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985">
            <a:solidFill>
              <a:srgbClr val="E5DE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56539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C6661"/>
                </a:solidFill>
              </a:rPr>
              <a:t>Sensitive court data AI governance • synthetic data treated as highly sensitive real court data</a:t>
            </a:r>
            <a:endParaRPr lang="en-US" sz="670" dirty="0"/>
          </a:p>
        </p:txBody>
      </p:sp>
      <p:sp>
        <p:nvSpPr>
          <p:cNvPr id="47" name="Text 45"/>
          <p:cNvSpPr/>
          <p:nvPr/>
        </p:nvSpPr>
        <p:spPr>
          <a:xfrm>
            <a:off x="11475720" y="65562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20D18"/>
                </a:solidFill>
              </a:rPr>
              <a:t>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20D18"/>
          </a:solidFill>
          <a:ln w="12700">
            <a:solidFill>
              <a:srgbClr val="B2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858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C43"/>
                </a:solidFill>
              </a:rPr>
              <a:t>FINAL RECOMMENDATION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Proceed with a controlled pilot — not full automation.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1488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EFEAE4"/>
                </a:solidFill>
              </a:rPr>
              <a:t>Launch TF-IDF routing support on redacted inputs, keep BERT-style semantic benchmarking in shadow mode, require human review for restricted and public-safety records, and scale only after privacy, security, auditability, reviewer adoption, and governance gates pass.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205740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425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98C43"/>
                </a:solidFill>
              </a:rPr>
              <a:t>Use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005840" y="47548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Routing support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337560" y="4297680"/>
            <a:ext cx="205740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4425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98C43"/>
                </a:solidFill>
              </a:rPr>
              <a:t>Final authority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3429000" y="47548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Human reviewer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5760720" y="4297680"/>
            <a:ext cx="205740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4425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98C43"/>
                </a:solidFill>
              </a:rPr>
              <a:t>Blocked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5852160" y="47548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Raw data exposure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8183880" y="4297680"/>
            <a:ext cx="205740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0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4425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B98C43"/>
                </a:solidFill>
              </a:rPr>
              <a:t>Mandatory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8275320" y="47548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C6661"/>
                </a:solidFill>
              </a:rPr>
              <a:t>Go/No-Go gates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713232" y="5989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8C43"/>
                </a:solidFill>
              </a:rPr>
              <a:t>This is how AI tools become trusted enterprise capabilities: governed, measurable, auditable, and user-centered.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Sensitive Court Data AI Governance</dc:title>
  <dc:subject>Executive presentation for Alvarez &amp; Marsal Product Analyst, AI Tools</dc:subject>
  <dc:creator>Ayush Gupta</dc:creator>
  <cp:lastModifiedBy>Ayush Gupta</cp:lastModifiedBy>
  <cp:revision>1</cp:revision>
  <dcterms:created xsi:type="dcterms:W3CDTF">2026-10-03T03:58:57Z</dcterms:created>
  <dcterms:modified xsi:type="dcterms:W3CDTF">2026-10-03T03:58:57Z</dcterms:modified>
</cp:coreProperties>
</file>